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GESTIÓN PYME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1783080"/>
            <a:ext cx="3154680" cy="292608"/>
          </a:xfrm>
          <a:prstGeom prst="rect">
            <a:avLst/>
          </a:prstGeom>
          <a:solidFill>
            <a:srgbClr val="19C8F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322"/>
                </a:solidFill>
              </a:rPr>
              <a:t>Proyecto de Base de Datos — Grupo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2322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3D6"/>
                </a:solidFill>
              </a:rPr>
              <a:t>Presentación final alineada al repositorio ProyectoIntegrador_PyME_MAURO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3246120"/>
            <a:ext cx="8366760" cy="1078992"/>
          </a:xfrm>
          <a:prstGeom prst="roundRect">
            <a:avLst>
              <a:gd name="adj" fmla="val 8475"/>
            </a:avLst>
          </a:prstGeom>
          <a:solidFill>
            <a:srgbClr val="152C47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493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🧭 Scrum Master: Juan Alvarez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400800" y="3493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🎯 Product Owner: Pablo Ruiz Diaz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331720" y="3886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💻 Pro-Developer: Kevin Ouviña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400800" y="3886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💻 Pro-Developer: Mauro Presso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DEL PROYECTO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formal de la defensa de la base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417320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417320"/>
            <a:ext cx="54864" cy="43891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490472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54076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154533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Problemática y contexto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2167128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67128"/>
            <a:ext cx="54864" cy="43891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" y="2240280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2905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45920" y="229514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Procesos AS-IS y TO-BE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2916936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2916936"/>
            <a:ext cx="54864" cy="43891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6424" y="2990088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0403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45920" y="304495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Requerimientos y casos de uso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3666744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666744"/>
            <a:ext cx="54864" cy="43891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" y="3739896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7901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45920" y="379476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Modelado conceptual, lógico y DER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60120" y="4416552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416552"/>
            <a:ext cx="54864" cy="43891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" y="4489704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45399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45920" y="45445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Implementación física en SQL Server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1417320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417320"/>
            <a:ext cx="54864" cy="43891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1490472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54076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95160" y="154533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Restricciones de integridad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2167128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167128"/>
            <a:ext cx="54864" cy="43891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5664" y="2240280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2905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95160" y="229514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CRUD, funciones y procedimientos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09360" y="2916936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916936"/>
            <a:ext cx="54864" cy="43891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55664" y="2990088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0403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95160" y="304495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Pruebas y optimización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309360" y="3666744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666744"/>
            <a:ext cx="54864" cy="43891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55664" y="3739896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37901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09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95160" y="379476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Gestión del proyecto y repositorio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309360" y="4416552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4416552"/>
            <a:ext cx="54864" cy="43891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55664" y="4489704"/>
            <a:ext cx="438912" cy="301752"/>
          </a:xfrm>
          <a:prstGeom prst="roundRect">
            <a:avLst>
              <a:gd name="adj" fmla="val 18182"/>
            </a:avLst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45399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322"/>
                </a:solidFill>
              </a:rPr>
              <a:t>10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995160" y="45445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Conclusiones y defensa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01. PROBLEMÁTICA Y CONTEXTO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 inicial identificada en la PyME bajo análisis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4069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</a:rPr>
              <a:t>La ausencia de una arquitectura de datos centralizada genera desorganización y pérdida de trazabilidad en los flujos principales del negocio.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148132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481328"/>
            <a:ext cx="54864" cy="84124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1609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Procesos manuales ineficientes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05856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C3D6"/>
                </a:solidFill>
              </a:rPr>
              <a:t>Dependencia de planillas, archivos sueltos y registros manuales desconectados.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486400" y="261518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615184"/>
            <a:ext cx="54864" cy="841248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2743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Falta de control operativo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05856" y="29809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C3D6"/>
                </a:solidFill>
              </a:rPr>
              <a:t>Dificultad para conciliar facturas, pagos, estados y datos de clientes/productos.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6400" y="374904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749040"/>
            <a:ext cx="54864" cy="841248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38770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Redundancia de datos críticos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05856" y="4114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C3D6"/>
                </a:solidFill>
              </a:rPr>
              <a:t>Registros duplicados o inconsistentes que afectan la calidad de la información.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68680" y="5330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centralizada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97480" y="4892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E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697480" y="5330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principales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6280" y="4892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26280" y="5330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validados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02. PROCESO DE NEGOCIO AS-IS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colaborativo actual: venta, facturación y cobro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pic>
        <p:nvPicPr>
          <p:cNvPr id="7" name="Image 0" descr="/mnt/data/diagrama_de_proceso_colaborativo_en_py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821" y="1298448"/>
            <a:ext cx="8399886" cy="4727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3D6"/>
                </a:solidFill>
              </a:rPr>
              <a:t>Lectura: el cliente participa como actor externo; la PyME opera con tareas administrativas y registros manuales/dispersos.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03. PROCESO DE NEGOCIO TO-BE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colaborativo mejorado con soporte del Sistema de Gestión PyME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pic>
        <p:nvPicPr>
          <p:cNvPr id="7" name="Image 0" descr="/mnt/data/diagrama_de_proceso_to_be_venta_py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821" y="1298448"/>
            <a:ext cx="8399886" cy="4727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3D6"/>
                </a:solidFill>
              </a:rPr>
              <a:t>Mejora clave: centralización en BaseDeDatos_PyME, emisión de facturas, registro de pagos y trazabilidad.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04. REQUERIMIENTOS Y CASOS DE USO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vistas desde los actores externos, no desde tablas ni pantallas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pic>
        <p:nvPicPr>
          <p:cNvPr id="7" name="Image 0" descr="/mnt/data/diagrama_de_casos_de_uso_py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2661"/>
            <a:ext cx="7589520" cy="47470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02752" y="132588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10233A">
              <a:alpha val="93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02752" y="1325880"/>
            <a:ext cx="54864" cy="205740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22208" y="15179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Actores principales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22208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administrativo
</a:t>
            </a:r>
            <a:pPr indent="0" marL="0">
              <a:buNone/>
            </a:pPr>
            <a:r>
              <a:rPr lang="en-US" sz="125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
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02752" y="361188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10233A">
              <a:alpha val="93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02752" y="3611880"/>
            <a:ext cx="54864" cy="1554480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38039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Criterio de análisis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22208" y="4160520"/>
            <a:ext cx="2697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C3D6"/>
                </a:solidFill>
              </a:rPr>
              <a:t>El Cliente aporta datos y pago dentro del proceso de negocio, pero no se modela como actor UML si no opera directamente el sistema.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05. MODELADO CONCEPTUAL, LÓGICO Y 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entidades y relaciones principales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D6"/>
                </a:solidFill>
              </a:rPr>
              <a:t>El modelo organiza la información administrativa y comercial de la PyME en áreas coherentes.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874520"/>
            <a:ext cx="54864" cy="96012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39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Clientes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2350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TIPOS_CLIENTE · TIPOS_DOCUMENTO · ESTADOS_CLIENTES · CLIENTES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199632" y="18745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874520"/>
            <a:ext cx="54864" cy="960120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039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Productos/servicios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2350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CATEGORIAS_PRODUCTO · IMPUESTOS · PRODUCTOS_SERVICIOS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13232" y="320040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00400"/>
            <a:ext cx="54864" cy="9601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649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Facturación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0976" y="3675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FACTURAS · DETALLES_FACTURA · DESCUENTOS · RECARGOS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199632" y="320040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200400"/>
            <a:ext cx="54864" cy="96012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3649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Pagos y auditoría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3675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C3D6"/>
                </a:solidFill>
              </a:rPr>
              <a:t>FORMAS_PAGO · COMPROBANTES_PAGO · AUDITORIA_FACTURA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13232" y="470916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10233A">
              <a:alpha val="96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709160"/>
            <a:ext cx="54864" cy="658368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01184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Relación clave de negocio: CLIENTES → FACTURAS → DETALLES_FACTURA → PRODUCTOS_SERVICIOS, con pagos, descuentos, recargos y auditoría asociados.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06. IMPLEMENTACIÓN FÍSICA EN SQL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organizados por responsabilidad y ejecutables por etapas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89888"/>
            <a:ext cx="5166360" cy="530352"/>
          </a:xfrm>
          <a:prstGeom prst="roundRect">
            <a:avLst>
              <a:gd name="adj" fmla="val 13793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89888"/>
            <a:ext cx="54864" cy="53035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08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00_Crear_Base_Datos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3108960" y="15087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7C3D6"/>
                </a:solidFill>
              </a:rPr>
              <a:t>creación de BaseDeDatos_PyME en DELL/LENOVO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5166360" cy="530352"/>
          </a:xfrm>
          <a:prstGeom prst="roundRect">
            <a:avLst>
              <a:gd name="adj" fmla="val 13793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176272"/>
            <a:ext cx="54864" cy="53035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951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01_Creacion_de_tablas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108960" y="229514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7C3D6"/>
                </a:solidFill>
              </a:rPr>
              <a:t>tablas, PK, FK y estructura física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77240" y="2962656"/>
            <a:ext cx="5166360" cy="530352"/>
          </a:xfrm>
          <a:prstGeom prst="roundRect">
            <a:avLst>
              <a:gd name="adj" fmla="val 13793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62656"/>
            <a:ext cx="54864" cy="53035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81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02_Restricciones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3108960" y="3081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7C3D6"/>
                </a:solidFill>
              </a:rPr>
              <a:t>índices y reglas adicionales del modelo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5166360" cy="530352"/>
          </a:xfrm>
          <a:prstGeom prst="roundRect">
            <a:avLst>
              <a:gd name="adj" fmla="val 13793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49040"/>
            <a:ext cx="54864" cy="53035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67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03_Datos_Prueba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3108960" y="386791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7C3D6"/>
                </a:solidFill>
              </a:rPr>
              <a:t>catálogos y datos iniciales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77240" y="4535424"/>
            <a:ext cx="5166360" cy="530352"/>
          </a:xfrm>
          <a:prstGeom prst="roundRect">
            <a:avLst>
              <a:gd name="adj" fmla="val 13793"/>
            </a:avLst>
          </a:prstGeom>
          <a:solidFill>
            <a:srgbClr val="10233A">
              <a:alpha val="92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535424"/>
            <a:ext cx="54864" cy="53035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54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04_Consultas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3108960" y="465429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7C3D6"/>
                </a:solidFill>
              </a:rPr>
              <a:t>consultas de apoyo y verificación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400800" y="1389888"/>
            <a:ext cx="4828032" cy="3547872"/>
          </a:xfrm>
          <a:prstGeom prst="roundRect">
            <a:avLst>
              <a:gd name="adj" fmla="val 2062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389888"/>
            <a:ext cx="54864" cy="354787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6733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Base implementada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C8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BaseDeDatos_PyME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629400" y="2743200"/>
            <a:ext cx="4206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
</a:t>
            </a:r>
            <a:pPr indent="0" marL="0">
              <a:buNone/>
            </a:pPr>
            <a:r>
              <a:rPr lang="en-US" sz="125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dbo
</a:t>
            </a:r>
            <a:pPr indent="0" marL="0">
              <a:buNone/>
            </a:pPr>
            <a:r>
              <a:rPr lang="en-US" sz="125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clara de scripts
</a:t>
            </a:r>
            <a:pPr indent="0" marL="0">
              <a:buNone/>
            </a:pPr>
            <a:r>
              <a:rPr lang="en-US" sz="125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iniciales reproducibles
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07. RESTRICCIONES DE INTEGRIDAD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motor para proteger consistencia y calidad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72768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72768"/>
            <a:ext cx="54864" cy="914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19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Integridad de entidad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9842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PRIMARY KEY en todas las tablas principales para identificar registros únicos.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07208"/>
            <a:ext cx="54864" cy="91440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53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Integridad referencial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218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FOREIGN KEY para mantener relaciones válidas entre clientes, facturas, productos y pagos.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041648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41648"/>
            <a:ext cx="54864" cy="914400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1879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Dominio y calidad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453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CHECK, UNIQUE y DEFAULT para evitar importes negativos, duplicados y valores inválidos.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1572768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10233A">
              <a:alpha val="94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572768"/>
            <a:ext cx="54864" cy="265176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810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Ejemplos defendibles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2240280"/>
            <a:ext cx="3840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FACTURAS → CLIENTES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DETALLES_FACTURA → FACTURAS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PRODUCTOS_SERVICIOS → IMPUESTOS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COMPROBANTES_PAGO → FACTURAS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AUDITORIA_FACTURA → USUARIOS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08. CRUD, FUNCIONES Y PROCEDIMIENTOS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SQL organizada para demostrar operación real del sistema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36192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10233A">
              <a:alpha val="94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36192"/>
            <a:ext cx="54864" cy="205740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</a:rPr>
              <a:t>CRUD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2240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B7C3D6"/>
                </a:solidFill>
              </a:rPr>
              <a:t>Altas, consultas, modificaciones y bajas sobre clientes, productos/servicios y facturas.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535424" y="1536192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10233A">
              <a:alpha val="94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1536192"/>
            <a:ext cx="54864" cy="2057400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</a:rPr>
              <a:t>Funciones y subconsultas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4024" y="2240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B7C3D6"/>
                </a:solidFill>
              </a:rPr>
              <a:t>LTRIM, RTRIM, GETDATE, DATEDIFF y reportes con subconsultas sobre tablas reales.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321040" y="1536192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10233A">
              <a:alpha val="94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536192"/>
            <a:ext cx="54864" cy="2057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</a:rPr>
              <a:t>Stored Procedures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2240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B7C3D6"/>
                </a:solidFill>
              </a:rPr>
              <a:t>Procedimientos para encapsular operaciones de clientes, productos, facturas y reportes.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325880" y="4279392"/>
            <a:ext cx="9464040" cy="777240"/>
          </a:xfrm>
          <a:prstGeom prst="roundRect">
            <a:avLst>
              <a:gd name="adj" fmla="val 9412"/>
            </a:avLst>
          </a:prstGeom>
          <a:solidFill>
            <a:srgbClr val="10233A">
              <a:alpha val="96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5880" y="4279392"/>
            <a:ext cx="54864" cy="77724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4553712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Rutas clave: 05_CRUD / 06_Funciones_Subconsultas / 05_CRUD/05_Stored_Procedures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09. PRUEBAS, VALIDACIONES Y OPTIMIZACIÓN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técnica del modelo y análisis de rendimiento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4864" cy="160020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642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Validaciones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42976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existente
</a:t>
            </a:r>
            <a:pPr indent="0" marL="0">
              <a:buNone/>
            </a:pPr>
            <a:r>
              <a:rPr lang="en-US" sz="11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principales
</a:t>
            </a:r>
            <a:pPr indent="0" marL="0">
              <a:buNone/>
            </a:pPr>
            <a:r>
              <a:rPr lang="en-US" sz="11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iniciales
</a:t>
            </a:r>
            <a:pPr indent="0" marL="0">
              <a:buNone/>
            </a:pPr>
            <a:r>
              <a:rPr lang="en-US" sz="11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y reportes
</a:t>
            </a:r>
            <a:pPr indent="0" marL="0">
              <a:buNone/>
            </a:pPr>
            <a:r>
              <a:rPr lang="en-US" sz="11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y procedimientos
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0233A">
              <a:alpha val="95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417320"/>
            <a:ext cx="54864" cy="1600200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6642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Optimización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93392"/>
            <a:ext cx="42976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no clusterizados
</a:t>
            </a:r>
            <a:pPr indent="0" marL="0">
              <a:buNone/>
            </a:pPr>
            <a:r>
              <a:rPr lang="en-US" sz="114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de consultas
</a:t>
            </a:r>
            <a:pPr indent="0" marL="0">
              <a:buNone/>
            </a:pPr>
            <a:r>
              <a:rPr lang="en-US" sz="114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antes/después
</a:t>
            </a:r>
            <a:pPr indent="0" marL="0">
              <a:buNone/>
            </a:pPr>
            <a:r>
              <a:rPr lang="en-US" sz="114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errores resueltos
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914400" y="39136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</a:rPr>
              <a:t>Resultado: el proyecto no solo crea una base, sino que demuestra ejecución, validación y control técnico.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28800" y="5148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Pruebas_Optimizacion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E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83480" y="5148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Subcarpetas de prueba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F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38160" y="5148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validado en SQL Server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ORGANIZACIÓN DEL REPOSITORIO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final coherente con las etapas del proyecto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5331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0233A">
              <a:alpha val="96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53312"/>
            <a:ext cx="54864" cy="416052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64208"/>
            <a:ext cx="4800600" cy="3429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ProyectoIntegrador_PyME_MAURO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00_Documentacion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01_Gestion_Trello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02_Analisis_Requerimientos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03_Modelado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04_SQLServer_Modelo_Fisico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05_CRUD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06_Funciones_Subconsultas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 07_Pruebas_Optimizacion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08_Entregable_Final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50876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10233A">
              <a:alpha val="93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508760"/>
            <a:ext cx="54864" cy="71323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1655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Trello — seguimiento del trabajo y estado de tareas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260604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10233A">
              <a:alpha val="93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606040"/>
            <a:ext cx="54864" cy="71323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2752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GitHub — versionado de scripts, documentación y entregables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3703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10233A">
              <a:alpha val="93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703320"/>
            <a:ext cx="54864" cy="71323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38496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3D6"/>
                </a:solidFill>
              </a:rPr>
              <a:t>SQL Server — implementación y validación de la base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0840" y="4800600"/>
            <a:ext cx="42062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C3D6"/>
                </a:solidFill>
              </a:rPr>
              <a:t>Criterio aplicado: no crear carpetas redundantes; ubicar cada archivo según su propósito principal.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C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CONCLUSIONES Y DEFENSA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78638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técnico y valor agregado del proyecto desarrollado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" y="1078992"/>
            <a:ext cx="10972800" cy="0"/>
          </a:xfrm>
          <a:prstGeom prst="line">
            <a:avLst/>
          </a:prstGeom>
          <a:noFill/>
          <a:ln w="12700">
            <a:solidFill>
              <a:srgbClr val="19C8FF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89888"/>
            <a:ext cx="10652760" cy="2176272"/>
          </a:xfrm>
          <a:prstGeom prst="roundRect">
            <a:avLst>
              <a:gd name="adj" fmla="val 3361"/>
            </a:avLst>
          </a:prstGeom>
          <a:solidFill>
            <a:srgbClr val="10233A">
              <a:alpha val="96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89888"/>
            <a:ext cx="54864" cy="2176272"/>
          </a:xfrm>
          <a:prstGeom prst="rect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642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</a:rPr>
              <a:t>Éxito de la transformación de datos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98298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reemplaza la lógica dispersa por una estructura relacional centralizada.
</a:t>
            </a:r>
            <a:pPr indent="0" marL="0">
              <a:buNone/>
            </a:pPr>
            <a:r>
              <a:rPr lang="en-US" sz="126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mantiene integridad entre clientes, productos, facturas, pagos y auditoría.
</a:t>
            </a:r>
            <a:pPr indent="0" marL="0">
              <a:buNone/>
            </a:pPr>
            <a:r>
              <a:rPr lang="en-US" sz="126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scripts permiten reconstruir, probar y defender técnicamente la solución.
</a:t>
            </a:r>
            <a:pPr indent="0" marL="0">
              <a:buNone/>
            </a:pPr>
            <a:r>
              <a:rPr lang="en-US" sz="1260" b="1" dirty="0">
                <a:solidFill>
                  <a:srgbClr val="2EE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repositorio queda organizado para revisión y continuidad del proyecto.
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10652760" cy="1051560"/>
          </a:xfrm>
          <a:prstGeom prst="roundRect">
            <a:avLst>
              <a:gd name="adj" fmla="val 6957"/>
            </a:avLst>
          </a:prstGeom>
          <a:solidFill>
            <a:srgbClr val="10233A">
              <a:alpha val="94000"/>
            </a:srgbClr>
          </a:solidFill>
          <a:ln w="12700">
            <a:solidFill>
              <a:srgbClr val="2742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77640"/>
            <a:ext cx="54864" cy="1051560"/>
          </a:xfrm>
          <a:prstGeom prst="rect">
            <a:avLst/>
          </a:prstGeom>
          <a:solidFill>
            <a:srgbClr val="19C8FF"/>
          </a:solidFill>
          <a:ln w="12700">
            <a:solidFill>
              <a:srgbClr val="19C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2153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C8FF"/>
                </a:solidFill>
              </a:rPr>
              <a:t>Frase de defensa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4187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Una base de datos bien diseñada no es solo almacenamiento: es la estructura que permite operar, controlar y decidir con información confiable.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565099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3D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ProyectoIntegrador_PyME_MAURO · BaseDeDatos_PyME · SQL 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6446520"/>
            <a:ext cx="11311128" cy="0"/>
          </a:xfrm>
          <a:prstGeom prst="line">
            <a:avLst/>
          </a:prstGeom>
          <a:noFill/>
          <a:ln w="12700">
            <a:solidFill>
              <a:srgbClr val="274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Gestión PyME — Grupo 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9848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587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Diapositiva 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Proyecto Integrador BDD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PyME</dc:title>
  <dc:subject>Presentación final Proyecto Integrador PyME</dc:subject>
  <dc:creator>Mauro Presso / ChatGPT</dc:creator>
  <cp:lastModifiedBy>Mauro Presso / ChatGPT</cp:lastModifiedBy>
  <cp:revision>1</cp:revision>
  <dcterms:created xsi:type="dcterms:W3CDTF">2026-06-24T19:30:55Z</dcterms:created>
  <dcterms:modified xsi:type="dcterms:W3CDTF">2026-06-24T19:30:55Z</dcterms:modified>
</cp:coreProperties>
</file>